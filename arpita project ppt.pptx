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21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3E1-4064-9BA3-6AA5124E2E56}"/>
              </c:ext>
            </c:extLst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3E1-4064-9BA3-6AA5124E2E56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3E1-4064-9BA3-6AA5124E2E56}"/>
              </c:ext>
            </c:extLst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3E1-4064-9BA3-6AA5124E2E56}"/>
              </c:ext>
            </c:extLst>
          </c:dPt>
          <c:cat>
            <c:strRef>
              <c:f>Sheet1!$A$2:$A$5</c:f>
              <c:strCache>
                <c:ptCount val="4"/>
                <c:pt idx="0">
                  <c:v>0–40</c:v>
                </c:pt>
                <c:pt idx="1">
                  <c:v>41–60</c:v>
                </c:pt>
                <c:pt idx="2">
                  <c:v>61–80</c:v>
                </c:pt>
                <c:pt idx="3">
                  <c:v>81–100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26</c:v>
                </c:pt>
                <c:pt idx="2">
                  <c:v>48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3E1-4064-9BA3-6AA5124E2E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Marks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0BA-4275-8CC5-39CB9B46564F}"/>
              </c:ext>
            </c:extLst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BA-4275-8CC5-39CB9B46564F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0BA-4275-8CC5-39CB9B46564F}"/>
              </c:ext>
            </c:extLst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0BA-4275-8CC5-39CB9B46564F}"/>
              </c:ext>
            </c:extLst>
          </c:dPt>
          <c:cat>
            <c:strRef>
              <c:f>Sheet1!$A$2:$A$5</c:f>
              <c:strCache>
                <c:ptCount val="4"/>
                <c:pt idx="0">
                  <c:v>Very low</c:v>
                </c:pt>
                <c:pt idx="1">
                  <c:v>Moderate</c:v>
                </c:pt>
                <c:pt idx="2">
                  <c:v>Good</c:v>
                </c:pt>
                <c:pt idx="3">
                  <c:v>High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63</c:v>
                </c:pt>
                <c:pt idx="2">
                  <c:v>72</c:v>
                </c:pt>
                <c:pt idx="3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0BA-4275-8CC5-39CB9B4656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Marks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EEE-46DE-8CC3-64F605AEB38E}"/>
              </c:ext>
            </c:extLst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EE-46DE-8CC3-64F605AEB38E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EEE-46DE-8CC3-64F605AEB38E}"/>
              </c:ext>
            </c:extLst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EEE-46DE-8CC3-64F605AEB38E}"/>
              </c:ext>
            </c:extLst>
          </c:dPt>
          <c:cat>
            <c:strRef>
              <c:f>Sheet1!$A$2:$A$5</c:f>
              <c:strCache>
                <c:ptCount val="4"/>
                <c:pt idx="0">
                  <c:v>0–2</c:v>
                </c:pt>
                <c:pt idx="1">
                  <c:v>3–5</c:v>
                </c:pt>
                <c:pt idx="2">
                  <c:v>6–10</c:v>
                </c:pt>
                <c:pt idx="3">
                  <c:v>11+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</c:v>
                </c:pt>
                <c:pt idx="1">
                  <c:v>68</c:v>
                </c:pt>
                <c:pt idx="2">
                  <c:v>60</c:v>
                </c:pt>
                <c:pt idx="3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EEE-46DE-8CC3-64F605AEB3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Linear Regression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1.3</c:v>
                </c:pt>
                <c:pt idx="1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B9-4549-9F37-3EDAD65446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Linear Regression</c:v>
                </c:pt>
                <c:pt idx="1">
                  <c:v>Random Forest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0.82</c:v>
                </c:pt>
                <c:pt idx="1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B9-4549-9F37-3EDAD65446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Logistic Regression</c:v>
                </c:pt>
                <c:pt idx="1">
                  <c:v>Decision Tree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0.82</c:v>
                </c:pt>
                <c:pt idx="1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35-4C25-B91A-369DFE7B80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Logistic Regression</c:v>
                </c:pt>
                <c:pt idx="1">
                  <c:v>Decision Tree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0.82</c:v>
                </c:pt>
                <c:pt idx="1">
                  <c:v>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35-4C25-B91A-369DFE7B80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084-4F61-8901-7DA53467462B}"/>
              </c:ext>
            </c:extLst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84-4F61-8901-7DA53467462B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84-4F61-8901-7DA53467462B}"/>
              </c:ext>
            </c:extLst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84-4F61-8901-7DA53467462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084-4F61-8901-7DA53467462B}"/>
              </c:ext>
            </c:extLst>
          </c:dPt>
          <c:dPt>
            <c:idx val="5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84-4F61-8901-7DA53467462B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084-4F61-8901-7DA53467462B}"/>
              </c:ext>
            </c:extLst>
          </c:dPt>
          <c:cat>
            <c:strRef>
              <c:f>Sheet1!$A$2:$A$8</c:f>
              <c:strCache>
                <c:ptCount val="7"/>
                <c:pt idx="0">
                  <c:v>G2</c:v>
                </c:pt>
                <c:pt idx="1">
                  <c:v>G1</c:v>
                </c:pt>
                <c:pt idx="2">
                  <c:v>studytime</c:v>
                </c:pt>
                <c:pt idx="3">
                  <c:v>absences</c:v>
                </c:pt>
                <c:pt idx="4">
                  <c:v>failures</c:v>
                </c:pt>
                <c:pt idx="5">
                  <c:v>traveltime</c:v>
                </c:pt>
                <c:pt idx="6">
                  <c:v>internet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</c:v>
                </c:pt>
                <c:pt idx="1">
                  <c:v>0.25</c:v>
                </c:pt>
                <c:pt idx="2">
                  <c:v>0.15</c:v>
                </c:pt>
                <c:pt idx="3">
                  <c:v>0.12</c:v>
                </c:pt>
                <c:pt idx="4">
                  <c:v>0.08</c:v>
                </c:pt>
                <c:pt idx="5">
                  <c:v>0.06</c:v>
                </c:pt>
                <c:pt idx="6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084-4F61-8901-7DA5346746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5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77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6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8288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9E0B"/>
                </a:solidFill>
              </a:rPr>
              <a:t>1-Month Internship on Data Analytics using Python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4932218"/>
            <a:ext cx="5943600" cy="498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/>
              <a:t>Presented by: Arpita Panda</a:t>
            </a:r>
          </a:p>
          <a:p>
            <a:pPr marL="0" indent="0">
              <a:buNone/>
            </a:pPr>
            <a:r>
              <a:rPr lang="en-US" sz="2800" dirty="0"/>
              <a:t>                            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5846618"/>
            <a:ext cx="6400800" cy="554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</a:rPr>
              <a:t>Conducted by: Skill Development Institute – Bhubaneswar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</a:t>
            </a:r>
            <a:endParaRPr lang="en-US" sz="900" dirty="0"/>
          </a:p>
        </p:txBody>
      </p:sp>
      <p:pic>
        <p:nvPicPr>
          <p:cNvPr id="9" name="Picture 8" descr="About SDI-B | Skill Development Institute Bhubaneswar Skill Development ...">
            <a:extLst>
              <a:ext uri="{FF2B5EF4-FFF2-40B4-BE49-F238E27FC236}">
                <a16:creationId xmlns:a16="http://schemas.microsoft.com/office/drawing/2014/main" id="{74A74E4B-BC76-707F-F11E-E24C71B03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1" y="833582"/>
            <a:ext cx="5181600" cy="543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2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" y="10058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6459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Title– Student Marks Predictor Project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2560320"/>
            <a:ext cx="811203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dirty="0">
                <a:solidFill>
                  <a:schemeClr val="bg1"/>
                </a:solidFill>
              </a:rPr>
              <a:t>Is based on the UCI Student Performance dataset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Shape 2"/>
          <p:cNvSpPr/>
          <p:nvPr/>
        </p:nvSpPr>
        <p:spPr>
          <a:xfrm>
            <a:off x="640080" y="3383280"/>
            <a:ext cx="36576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Project Overview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914400"/>
            <a:ext cx="6583680" cy="5120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Goal: predict a student’s final marks and identify the weak areas affecting performance.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The project combines regression, classification and rule-based explanation.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It transforms a normal marks-prediction model into a student improvement support system.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This makes the project more useful for demos, student counselling and academic support.
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35240" y="960120"/>
            <a:ext cx="379476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90956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Main outputs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60" y="164592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Predicted marks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Pass / fail tendency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Risk level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Top weak areas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Recommendations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Why This Project Is Strong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914400"/>
            <a:ext cx="6583680" cy="5120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The topic is easy to understand because every student relates to marks and study habits.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It uses a real public dataset, so the project is data-driven and reproducible.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It demonstrates end-to-end ML workflow: data loading, EDA, preprocessing, model training, evaluation and interpretation.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The “weak area detector” gives a novel touch beyond plain prediction.
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35240" y="960120"/>
            <a:ext cx="379476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90956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Presentation value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60" y="164592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Simple to explain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Practical use case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Good for viva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Shows problem-solving mindset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Dataset – UCI Student Performance</a:t>
            </a:r>
            <a:endParaRPr lang="en-US" sz="2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64240" cy="2304288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Aspect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Details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UCI Student Performance dataset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Subjects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Mathematics and Portuguese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Important variables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studytime, failures, absences, G1, G2, G3, family/social factors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 used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G3 (final grade) and pass_fail derived from G3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suitable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Contains educational and behavioural variables related to performance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1005840"/>
            <a:ext cx="553212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566928" y="1069848"/>
            <a:ext cx="5495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Aspect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080760" y="1005840"/>
            <a:ext cx="553212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6099048" y="1069848"/>
            <a:ext cx="5495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Details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85800" y="6126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The provided helper script downloads the official dataset ZIP from UCI and extracts student-mat.csv and student-por.csv.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Student Inputs vs Dataset Fields</a:t>
            </a:r>
            <a:endParaRPr lang="en-US" sz="2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64240" cy="2688336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Student-facing idea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Mapped / supported in the project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Study hours per day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Mapped approximately to studytime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Attendance 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Approximated using absences as attendance_proxy_pct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 test score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Mapped to G1 / G2-like prior performance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Assignment submitted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present in original UCI; approximated in demo mapping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Sleep hours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present in original UCI; mentioned as extension idea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Internet usage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Partially related to internet availability in UCI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1005840"/>
            <a:ext cx="553212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566928" y="1069848"/>
            <a:ext cx="5495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Student-facing idea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080760" y="1005840"/>
            <a:ext cx="553212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6099048" y="1069848"/>
            <a:ext cx="5495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Mapped / supported in the project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85800" y="6126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This slide clearly explains where the project uses true dataset features and where it uses demo-friendly mapping for presentation purposes.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Problem Statement &amp; Solution Flow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914400"/>
            <a:ext cx="6583680" cy="5120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Input: student-related variables such as study behaviour, attendance proxy, previous performance and background factors.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Process: clean the data, build features, train regression and classification models, inspect importance and reason about weak areas.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Output: predicted final marks, risk band, major causes of low score and personalised suggestions.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Impact: the model helps teachers and students act early rather than only reacting after results are announced.
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35240" y="960120"/>
            <a:ext cx="379476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90956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One-line summary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60" y="164592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From student data to prediction to action.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Data Preprocessing – Step by Step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914400"/>
            <a:ext cx="6583680" cy="5120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Download the dataset and load mathematics and Portuguese CSV files.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Append a subject column and merge both datasets for richer training data.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Create derived variables: G3_100, pass_fail and attendance_proxy_pct.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Separate numeric and categorical columns for preprocessing.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Use imputation for missing values and one-hot encoding for category fields.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Apply scaling for linear models where appropriate.
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35240" y="960120"/>
            <a:ext cx="379476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90956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Why preprocessing matters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60" y="164592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Better data quality leads to more reliable models and cleaner explanations.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EDA – Final Marks Distribution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8686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Most students cluster in the medium-to-high score region in the prepared 0–100 display scale.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325880"/>
          <a:ext cx="106984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EDA – Study Time vs Average Marks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8686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Students with higher studytime categories generally perform better.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325880"/>
          <a:ext cx="106984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EDA – Absences vs Average Marks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8686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Higher absences generally correspond to lower average final marks.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325880"/>
          <a:ext cx="106984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Models Used in the Project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94360" y="914400"/>
            <a:ext cx="5303520" cy="5212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22960" y="1097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Regression (Predict marks)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475488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Linear Regression
• Random Forest Regressor
• Output is continuous final grade / marks
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914400"/>
            <a:ext cx="5303520" cy="5212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92240" y="1097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Classification (Predict risk of fail)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92240" y="1600200"/>
            <a:ext cx="475488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Logistic Regression
• Decision Tree Classifier
• Output is pass_fail label or pass probability
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Why We Use More Than One Model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914400"/>
            <a:ext cx="6583680" cy="5120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Linear and logistic models are simple, fast and easy to explain.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Random forest and decision tree methods can capture non-linear relationships.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Comparing models teaches students how accuracy and interpretability trade off.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Choosing the best model is part of real-world machine learning practice.
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35240" y="960120"/>
            <a:ext cx="379476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90956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Teaching value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60" y="164592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Model comparison is an important presentation point because it shows analysis, not just coding.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Model Evaluation Metrics</a:t>
            </a:r>
            <a:endParaRPr lang="en-US" sz="21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64240" cy="1536192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Task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Metrics used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Regression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MAE, RMSE, R²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Error size and explanatory power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Classification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Accuracy, Precision, Recall, F1, ROC AUC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well pass/fail is predicted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Interpretation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 importance / permutation importance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influences the result most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1005840"/>
            <a:ext cx="368808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566928" y="1069848"/>
            <a:ext cx="3651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Task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236720" y="1005840"/>
            <a:ext cx="368808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4255008" y="1069848"/>
            <a:ext cx="3651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Metrics used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924800" y="1005840"/>
            <a:ext cx="368808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7943088" y="1069848"/>
            <a:ext cx="3651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Meaning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85800" y="6126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This slide adds completeness so the audience sees not only the model but also how its quality is measured.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Regression Results – Example Comparison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8686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Lower error and higher R² indicate better performance.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325880"/>
          <a:ext cx="106984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Classification Results – Example Comparison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8686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Logistic regression slightly outperforms the decision tree in this presentation example.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325880"/>
          <a:ext cx="106984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Top Feature Importance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8686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These features are the strongest contributors in the marks prediction story.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325880"/>
          <a:ext cx="106984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Weak Area Detector – Logic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914400"/>
            <a:ext cx="6583680" cy="5120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The project focuses on actionable factors such as attendance, studytime, previous scores and failures.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Each selected feature gets a weakness score using simple rules or thresholds.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That weakness score is combined with feature importance to rank the most important problems.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The top-ranked reasons are returned as student-friendly weak areas.
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35240" y="960120"/>
            <a:ext cx="379476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90956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Example weak areas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60" y="164592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Low attendance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Less study time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Poor previous score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Past failures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Recommendation Engine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914400"/>
            <a:ext cx="6583680" cy="5120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Each weak area is mapped to one or more suggestions.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Example: low attendance → improve class regularity and reduce missed lessons.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Example: less study time → create a fixed study timetable.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This improves the practical usefulness of the project because it explains what to do next.
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35240" y="960120"/>
            <a:ext cx="379476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90956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Novel touch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60" y="164592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Not just prediction.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Prediction + explanation + improvement suggestions.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Risk Level Logic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94360" y="914400"/>
            <a:ext cx="5303520" cy="5212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22960" y="1097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Risk bands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475488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Low risk: predicted marks &gt;= 70/100
• Medium risk: 50 to 69/100
• High risk: below 50/100
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914400"/>
            <a:ext cx="5303520" cy="5212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92240" y="1097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Why risk bands help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92240" y="1600200"/>
            <a:ext cx="475488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Easy for teachers and students to understand quickly
• Useful for dashboards and intervention lists
• Converts raw model output into actionable categories
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End-to-End Prediction Flow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914400"/>
            <a:ext cx="6583680" cy="5120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1. User enters student details or a simplified demo input.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2. Input is converted to model-ready features based on the training schema.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3. Best regression model predicts final marks.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4. Best classification model estimates pass/fail tendency.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5. Weak area detector ranks the main reasons for lower performance.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6. Recommendation system returns practical next steps.
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35240" y="960120"/>
            <a:ext cx="379476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90956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Presentation message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60" y="164592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This is what makes the project complete and wholesome.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Sample Demo Input</a:t>
            </a:r>
            <a:endParaRPr lang="en-US" sz="21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64240" cy="2688336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Input feature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 value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Study hours per day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Attendance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 test score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Assignments submitted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Sleep hours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Internet usage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1005840"/>
            <a:ext cx="553212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566928" y="1069848"/>
            <a:ext cx="5495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feature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080760" y="1005840"/>
            <a:ext cx="553212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6099048" y="1069848"/>
            <a:ext cx="5495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Example value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85800" y="6126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Some demo-friendly fields are mapped to the nearest dataset-supported inputs for presentation purposes.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Sample Demo Output</a:t>
            </a:r>
            <a:endParaRPr lang="en-US" sz="21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64240" cy="2304288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Output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Predicted final marks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 / 100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level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 probability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0.87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weak areas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 attendance, low study time, low previous test score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Recommendations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 attendance, increase study time, focus on weak topics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1005840"/>
            <a:ext cx="553212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566928" y="1069848"/>
            <a:ext cx="5495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080760" y="1005840"/>
            <a:ext cx="553212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6099048" y="1069848"/>
            <a:ext cx="5495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Example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85800" y="6126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This is the final student-facing value of the system.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Project Architecture – Simple View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3484778" cy="1600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352" y="1078992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1060704"/>
            <a:ext cx="28446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Input Layer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30352" y="1417320"/>
            <a:ext cx="3155594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</a:rPr>
              <a:t>Raw student data or demo form input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70578" y="914400"/>
            <a:ext cx="3484778" cy="1600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5170" y="107899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73498" y="1060704"/>
            <a:ext cx="28446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Preprocessing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4335170" y="1417320"/>
            <a:ext cx="3155594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</a:rPr>
              <a:t>Cleaning, encoding, scaling and feature mapping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7975397" y="914400"/>
            <a:ext cx="3484778" cy="1600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9989" y="1078992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78317" y="1060704"/>
            <a:ext cx="28446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Regression Model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8139989" y="1417320"/>
            <a:ext cx="3155594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</a:rPr>
              <a:t>Predict final marks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65760" y="2834640"/>
            <a:ext cx="3484778" cy="1600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0352" y="2999232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2980944"/>
            <a:ext cx="28446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Classification Model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530352" y="3337560"/>
            <a:ext cx="3155594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</a:rPr>
              <a:t>Estimate pass/fail tendency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4170578" y="2834640"/>
            <a:ext cx="3484778" cy="1600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5170" y="2999232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673498" y="2980944"/>
            <a:ext cx="28446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Weak Area Logic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4335170" y="3337560"/>
            <a:ext cx="3155594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</a:rPr>
              <a:t>Rank low-performance reasons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7975397" y="2834640"/>
            <a:ext cx="3484778" cy="1600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39989" y="2999232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478317" y="2980944"/>
            <a:ext cx="28446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Recommendation Output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8139989" y="3337560"/>
            <a:ext cx="3155594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</a:rPr>
              <a:t>Actionable suggestions for improvement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Code Walkthrough – Loading Data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94360" y="914400"/>
            <a:ext cx="10972800" cy="5394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mat_path, por_path = download_uci_student_performance_dataset()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df_mat = pd.read_csv(mat_path, sep=';')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df_por = pd.read_csv(por_path, sep=';')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df_mat['subject'] = 'math'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df_por['subject'] = 'portuguese'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pd.concat([df_mat, df_por], ignore_index=True)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Code Walkthrough – Feature Engineering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94360" y="914400"/>
            <a:ext cx="10972800" cy="5394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df['G3_100'] = df['G3'] * 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df['pass_fail'] = (df['G3'] &gt;= 10).astype(int)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max_absences = max(df['absences'].max(), 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df['attendance_proxy_pct'] = (1 - (df['absences'] / max_absences)) * 100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df['attendance_proxy_pct'] = df['attendance_proxy_pct'].clip(0, 100)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Code Walkthrough – Preprocessing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94360" y="914400"/>
            <a:ext cx="10972800" cy="5394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numeric_linear = Pipeline([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('imputer', SimpleImputer(strategy='median')),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('scaler', StandardScaler())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categorical = Pipeline([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('imputer', SimpleImputer(strategy='most_frequent')),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('onehot', OneHotEncoder(handle_unknown='ignore'))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linear_preprocessor = ColumnTransformer([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('num', numeric_linear, numeric_features),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('cat', categorical, categorical_features)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Code Walkthrough – Model Training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94360" y="914400"/>
            <a:ext cx="10972800" cy="5394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linear_reg = Pipeline([('preprocessor', linear_preprocessor),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('model', LinearRegression())])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rf_reg = Pipeline([('preprocessor', tree_preprocessor),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('model', RandomForestRegressor(n_estimators=300, random_state=42))])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log_reg = Pipeline([('preprocessor', linear_preprocessor),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('model', LogisticRegression(max_iter=2000))])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Code Walkthrough – Prediction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94360" y="914400"/>
            <a:ext cx="10972800" cy="5394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predict_student_outcome(student_input_df):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model_input = student_input_df[X.columns].copy()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predicted_g3 = float(best_regression_model.predict(model_input)[0])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predicted_pass = int(best_classification_model.predict(model_input)[0])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predicted_marks_100 = np.clip(predicted_g3 * 5, 0, 100)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risk_level = get_risk_level(predicted_marks_100)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weak_reasons = get_top_reasons_for_low_score(helper_df, top_n=3)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recommendations = generate_recommendations_from_reasons(weak_reasons)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{...}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Limitations of the Current Project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914400"/>
            <a:ext cx="6583680" cy="5120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The original UCI dataset does not include real attendance percentage, sleep hours or assignment submission.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Some student-friendly demo inputs are therefore mapped to approximate or nearest available fields.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Marks prediction is useful for guidance, but it should not replace teacher judgement.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Model quality can vary when applied to a different school, syllabus or student population.
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35240" y="960120"/>
            <a:ext cx="379476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90956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Why mention limitations?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60" y="164592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It shows maturity, honesty and deeper understanding during evaluation.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Future Improvements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914400"/>
            <a:ext cx="6583680" cy="5120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Use a dataset with real attendance, assignment scores, class participation and sleep data.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Deploy the project as a Streamlit or Flask web application.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Add SHAP or similar methods for more advanced explainability.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Create a teacher dashboard showing at-risk students and trend summaries.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Retrain the model with institute-specific or school-specific data for better relevance.
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35240" y="960120"/>
            <a:ext cx="379476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90956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Upgrade path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60" y="164592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Prototype → dashboard → deployed app → institution-specific analytics tool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118872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0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Ethics and Responsible Use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85800" y="914400"/>
            <a:ext cx="6583680" cy="5120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Predictions should support students, not label or punish them unfairly.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Personal data should be handled securely and used with permission.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Model results should be explained carefully so students understand they are estimates, not destiny.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Human guidance from teachers, mentors and counsellors remains essential.
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35240" y="960120"/>
            <a:ext cx="379476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90956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Good closing line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09560" y="164592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“AI should assist human decisions, not replace them blindly.”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22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</a:rPr>
              <a:t>Thank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28346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5E7EB"/>
                </a:solidFill>
              </a:rPr>
              <a:t>Questions?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E5E7EB"/>
                </a:solidFill>
              </a:rPr>
              <a:t>Let’s build, analyse and improve with data.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5760720"/>
            <a:ext cx="121916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Institute Presentation – Updated and Expanded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2202</Words>
  <Application>Microsoft Office PowerPoint</Application>
  <PresentationFormat>Widescreen</PresentationFormat>
  <Paragraphs>340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Institute Course Portfolio + Data Science &amp; Analytics Project</dc:title>
  <dc:subject>Data Science &amp; Analytics Course and Project Presentation</dc:subject>
  <dc:creator>OpenAI</dc:creator>
  <cp:lastModifiedBy>Arpita Panda</cp:lastModifiedBy>
  <cp:revision>8</cp:revision>
  <dcterms:created xsi:type="dcterms:W3CDTF">2026-04-23T08:53:44Z</dcterms:created>
  <dcterms:modified xsi:type="dcterms:W3CDTF">2026-06-11T16:21:49Z</dcterms:modified>
</cp:coreProperties>
</file>